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This presentation explains the formulation strategy and manufacturing process for Paracetamol 500 mg immediate-release tablets using wet granulation to improve flow, compressibility, and tablet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Paracetamol can present tableting challenges, particularly in direct compression. Wet granulation is selected here to improve powder handling and tablet mechanical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Each excipient is selected to address a specific manufacturing or performance need. The formula should be optimized experimentally for tablet strength, disintegration and dissolution.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The critical step is endpoint-controlled granulation. Drying and sizing must produce granules with suitable moisture, particle-size distribution and flow before compression.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Quality testing should use validated, product-specific methods. The dissolution specification should be taken from the applicable pharmacopoeia or approved product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Troubleshooting should begin with identifying the material or process variable responsible. Changes should be evaluated through controlled development trials rather than using a fixed correction universally.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Formulation &amp; Process Engineering of Paracetamol 500 mg Immediate-Release Tablets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Wet Granulation Optimization, Excipient Compatibility, and In-Vitro Dissolution Profiling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Case Study: Industrial Formulation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Paracetamol 500 mg IR Tablet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API Physicochemical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Chemical name: N-(4-hydroxyphenyl)acetamide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Molecular weight: 151.16 g/mol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BCS: commonly described as highly soluble with permeability-dependent classification; verify the exact regulatory classification for the target jurisdiction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Key formulation challenges: poor flow, limited plasticity, elastic recovery and risk of capping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Wet granulation helps produce agglomerates with improved flow and compressibility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Paracetamol 500 mg IR Tablet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Excipient Selection &amp; Functionality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Paracetamol API — Active ingredient — ~75.0%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Microcrystalline cellulose PH-101 — Diluent/dry binder — ~12.0%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Pregelatinized starch (Starch 1500) — Binder/disintegrant — ~7.0%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Sodium starch glycolate — Superdisintegrant — ~3.5%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PVP K-30 — Granulating binder — ~1.5%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Magnesium stearate — Lubricant — ~0.5%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Colloidal silicon dioxide — Glidant — ~0.5%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Note: quantities are an illustrative development formula and must be confirmed by formulation trials and product-specific specifications.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Paracetamol 500 mg IR Tablet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Wet Granulation: Manufacturing Unit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1. Sifting: API and intragranular excipients through 40-mesh (~425 µm)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2. Dry mixing: Rapid Mixer Granulator for about 10 min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3. Wet massing: add aqueous PVP K-30 solution to the required granulation endpoint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4. Drying: Fluid Bed Dryer at about 55 ± 5°C; target LOD 1.0–1.5% as a development target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5. Sizing: pass dried granules through 20-mesh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6. Final blending/lubrication: add extragranular excipients and magnesium stearate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7. Compression: rotary tablet press with suitable 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Paracetamol 500 mg IR Tablet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In-Process Quality Controls &amp; Dissolution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In-process controls: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Tablet weight and weight variation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Thickness and hardness: development target 6–9 kp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Friability: development target &lt;0.5%; pharmacopeial acceptance commonly NMT 1.0% for conventional tablets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Disintegration: development target &lt;5 min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Dissolution development setup: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USP Apparatus II (Paddle), 50 rpm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900 mL medium; pH 5.8 phosphate buffer or 0.1 N HCl depending on validated method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37 ± 0.5°C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• Acceptance criterion must follow the applicable pharmacopoeial monograph/validated specification; do not assume Q = 80% in 30 min without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Paracetamol 500 mg IR Tablet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CQAs &amp;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Critical Quality Attributes (CQAs): assay/content uniformity, tablet weight, hardness, friability, disintegration, dissolution, moisture and appearance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Capping/lamination — possible causes: air entrapment, excessive compression speed, elastic recovery or unsuitable granule moisture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Corrective actions: optimize granulation endpoint/moisture, compression speed, dwell time and binder level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Dissolution lag — possible cause: excessive magnesium stearate or over-lubrication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Corrective action: minimize lubricant level and blending time while maintaining ejection performance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Process control principle: link material attributes + process parameters → CQAs → finished-product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Paracetamol 500 mg IR Tablet | 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